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FORGENSIC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AF3F4"/>
                </a:solidFill>
                <a:latin typeface="Calibri"/>
              </a:defRPr>
            </a:pPr>
            <a:r>
              <a:t>Classical Computer Vision for Document Forgery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100% Explainable, GPU-Free, Privacy-First Pipeline</a:t>
            </a:r>
            <a:br/>
            <a:r>
              <a:t>for the AB-PMJAY Healthcare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868C"/>
                </a:solidFill>
                <a:latin typeface="Calibri"/>
              </a:defRPr>
            </a:pPr>
            <a:r>
              <a:t>TANUH: AI Center of Excellence in 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NHA PS3 Challenge  •  Internal Validation Score: 0.5315  •  Leaderboard: Top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5486400"/>
            <a:ext cx="2011680" cy="457200"/>
          </a:xfrm>
          <a:prstGeom prst="round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Pipeline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The Problem: Healthcare Document Fraud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▸  AB-PMJAY (Ayushman Bharat) processes millions of health insurance claims annually across 25,000+ hospitals.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▸  Fraudulent documents — forged prescriptions, tampered discharge summaries, fabricated lab reports — drain public healthcare funds.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▸  Traditional manual auditing is slow, inconsistent, and cannot scale to the volume of claims submitted daily.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▸  Deep Learning approaches require expensive GPUs, offer zero explainability, and raise privacy concerns with cloud-based inference.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▸  The solution must run on standard government infrastructure (CPU-only), provide legally defensible evidence, and guarantee zero data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868C"/>
                </a:solidFill>
                <a:latin typeface="Calibri"/>
              </a:defRPr>
            </a:pPr>
            <a:r>
              <a:t>25,000+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Empanelled</a:t>
            </a:r>
            <a:br/>
            <a:r>
              <a:t>Hospitals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8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₹1,000 Cr+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91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Estimated Annual</a:t>
            </a:r>
            <a:br/>
            <a:r>
              <a:t>Fraud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02336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17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Explainability</a:t>
            </a:r>
            <a:br/>
            <a:r>
              <a:t>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349240"/>
            <a:ext cx="4114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A5E9"/>
                </a:solidFill>
                <a:latin typeface="Calibri"/>
              </a:defRPr>
            </a:pPr>
            <a:r>
              <a:t>0 GPUs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Available at</a:t>
            </a:r>
            <a:br/>
            <a:r>
              <a:t>District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Why Classical Computer Vision over Deep Learning?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3152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6C71"/>
                </a:solidFill>
                <a:latin typeface="Calibri"/>
              </a:defRPr>
            </a:pPr>
            <a:r>
              <a:t>"If you can mathematically prove why a region is tampered, you don't need a neural network to guess it for you."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377440"/>
            <a:ext cx="3931920" cy="54864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Deep Learning (ViT, ManTra-Net)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377440"/>
            <a:ext cx="4389120" cy="54864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Our Classical CV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2608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9260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GPU-bound, memory-heavy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92608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Runs blazingly fast on any standard CPU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74720"/>
            <a:ext cx="2194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20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474720"/>
            <a:ext cx="3931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Black-box "model says so"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474720"/>
            <a:ext cx="43891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Every flag traces to a mathematical equation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2336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069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0233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Requires ONNX/TensorRT hosting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02336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Zero model weights; instantly deployable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572000"/>
            <a:ext cx="2194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17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572000"/>
            <a:ext cx="3931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Seconds per image (even on 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572000"/>
            <a:ext cx="43891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4617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~1–3s per page on CPU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12064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166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1206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8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Often requires cloud inference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512064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5166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100% offline capable; zero data persistence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669280"/>
            <a:ext cx="21945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715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AB-PMJAY Fit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669280"/>
            <a:ext cx="39319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5715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Over-engineered for scanned docs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5669280"/>
            <a:ext cx="43891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6600" y="5715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Purpose-built for noisy Indian medical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Calibri"/>
              </a:defRPr>
            </a:pPr>
            <a:r>
              <a:t>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Calibri"/>
              </a:defRPr>
            </a:pPr>
            <a:r>
              <a:t>How Forgensic processes 500+ concurrent requests with zero data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Microservice Architecture: FastAPI + Redis + Celery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828800" cy="1188720"/>
          </a:xfrm>
          <a:prstGeom prst="round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 UI /</a:t>
            </a:r>
            <a:br/>
            <a:r>
              <a:t>API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828800" cy="11887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 Server</a:t>
            </a:r>
            <a:br/>
            <a:r>
              <a:t>(Port 8004)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828800"/>
            <a:ext cx="1828800" cy="11887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Redis Queue</a:t>
            </a:r>
            <a:br/>
            <a:r>
              <a:t>+ State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182880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Celery Worker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560320"/>
            <a:ext cx="182880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Celery Worker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828800"/>
            <a:ext cx="1463040" cy="1188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Classical CV</a:t>
            </a:r>
            <a:br/>
            <a: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Upload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Enqueue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Pull Task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34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Pull Task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Process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Key Architectural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Asynchronous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FastAPI event loop never blocks. Heavy CV tasks offloaded to Celery workers.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Horizontal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Workers scale independently. Prefork pool for isolated multi-processing on Linux.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Zero-Persistence 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Data stored in temp volume, auto-purged after 1-hour TTL. No permanent storage.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0350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Crash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task_acks_late = True ensures jobs re-queue on worker death.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Job Lifecycle: Redis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POST /jobs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queued</a:t>
            </a:r>
            <a:br/>
            <a:r>
              <a:t>progress: 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Worker picks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011680" cy="91440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  <a:br/>
            <a:r>
              <a:t>progress: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Pipeline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828800"/>
            <a:ext cx="201168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  <a:br/>
            <a:r>
              <a:t>progress: 10-85%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Results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201168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complete</a:t>
            </a:r>
            <a:br/>
            <a:r>
              <a:t>progress: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On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1828800"/>
            <a:ext cx="2011680" cy="9144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error</a:t>
            </a:r>
            <a:br/>
            <a:r>
              <a:t>message: '...'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Celery Worker Configuration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840480"/>
            <a:ext cx="45720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58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858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forgensic (dedicated, isolated)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24528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4224528"/>
            <a:ext cx="45720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428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2428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2 workers per container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08576"/>
            <a:ext cx="2743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4608576"/>
            <a:ext cx="45720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Acknowledgement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Late ack (after completion, crash-safe)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92624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4992624"/>
            <a:ext cx="45720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Prefetch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5010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1 task at a time (CV is memory-heavy)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376672"/>
            <a:ext cx="2743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5376672"/>
            <a:ext cx="45720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94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Time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394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3600s hard / 3300s soft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7607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0" y="5760720"/>
            <a:ext cx="45720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779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Retry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7790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0 retries (errors are user-visible)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144768"/>
            <a:ext cx="2743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0" y="6144768"/>
            <a:ext cx="45720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1630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Result TTL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61630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3600s (auto-cleanup)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964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GET /health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8587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Redis ping + cleanup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4224528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4242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POST /api/token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2428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Issue demo JWT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608576"/>
            <a:ext cx="32004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626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POST /jobs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6268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Upload → enqueue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992624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9640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GET /jobs/{id}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5010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Poll 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5376672"/>
            <a:ext cx="32004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GET /jobs/{id}/results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5394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Full results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5760720"/>
            <a:ext cx="3200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49640" y="5779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C71"/>
                </a:solidFill>
                <a:latin typeface="Consolas"/>
              </a:defRPr>
            </a:pPr>
            <a:r>
              <a:t>GET /jobs/{id}/files/{n}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57790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Serve output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End-to-End Pipeline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Document</a:t>
            </a:r>
            <a:br/>
            <a: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PDF/Image upload</a:t>
            </a:r>
            <a:br/>
            <a:r>
              <a:t>streamed to disk</a:t>
            </a:r>
          </a:p>
        </p:txBody>
      </p:sp>
      <p:sp>
        <p:nvSpPr>
          <p:cNvPr id="8" name="Oval 7"/>
          <p:cNvSpPr/>
          <p:nvPr/>
        </p:nvSpPr>
        <p:spPr>
          <a:xfrm>
            <a:off x="2240280" y="14630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Page</a:t>
            </a:r>
            <a:br/>
            <a:r>
              <a:t>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PyMuPDF renders</a:t>
            </a:r>
            <a:br/>
            <a:r>
              <a:t>each page → JPEG</a:t>
            </a:r>
          </a:p>
        </p:txBody>
      </p:sp>
      <p:sp>
        <p:nvSpPr>
          <p:cNvPr id="11" name="Oval 10"/>
          <p:cNvSpPr/>
          <p:nvPr/>
        </p:nvSpPr>
        <p:spPr>
          <a:xfrm>
            <a:off x="3703320" y="14630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Quality</a:t>
            </a:r>
            <a:br/>
            <a:r>
              <a:t>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Blur, contrast,</a:t>
            </a:r>
            <a:br/>
            <a:r>
              <a:t>brightness, density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46304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Category</a:t>
            </a:r>
            <a:br/>
            <a: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Run all 8 detectors</a:t>
            </a:r>
            <a:br/>
            <a:r>
              <a:t>C1→C7, C9 → C8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146304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Region</a:t>
            </a:r>
            <a:br/>
            <a:r>
              <a:t>Localization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Re-run detectors for</a:t>
            </a:r>
            <a:br/>
            <a:r>
              <a:t>flagged categories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14630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Post-</a:t>
            </a:r>
            <a:br/>
            <a: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Clip bounds, merge</a:t>
            </a:r>
            <a:br/>
            <a:r>
              <a:t>nearby boxes</a:t>
            </a:r>
          </a:p>
        </p:txBody>
      </p:sp>
      <p:sp>
        <p:nvSpPr>
          <p:cNvPr id="23" name="Oval 22"/>
          <p:cNvSpPr/>
          <p:nvPr/>
        </p:nvSpPr>
        <p:spPr>
          <a:xfrm>
            <a:off x="9555480" y="14630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NPV Focus</a:t>
            </a:r>
            <a:br/>
            <a:r>
              <a:t>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Drop low-signal</a:t>
            </a:r>
            <a:br/>
            <a:r>
              <a:t>categories</a:t>
            </a:r>
          </a:p>
        </p:txBody>
      </p:sp>
      <p:sp>
        <p:nvSpPr>
          <p:cNvPr id="26" name="Oval 25"/>
          <p:cNvSpPr/>
          <p:nvPr/>
        </p:nvSpPr>
        <p:spPr>
          <a:xfrm>
            <a:off x="11018520" y="1463040"/>
            <a:ext cx="502920" cy="502920"/>
          </a:xfrm>
          <a:prstGeom prst="ellipse">
            <a:avLst/>
          </a:prstGeom>
          <a:solidFill>
            <a:srgbClr val="0E6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Preview</a:t>
            </a:r>
            <a:br/>
            <a:r>
              <a:t>Rendering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743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Draw colored boxes</a:t>
            </a:r>
            <a:br/>
            <a:r>
              <a:t>on original 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1691640"/>
            <a:ext cx="1033272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Detection Decision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Run detectors C1 through C7 and C9 sequentially on each page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If C9 regions found → pass to C8 detector (checks if ENTIRE document is AI-generated)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C8 only fires when: no other category detected, OR only C9 was detected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NPV Focus filter: drop categories with &lt; 4 regions OR &lt; 2% page coverage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If all categories filtered out → verdict: C10 (No Discrepancy Found)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Final output: list of detected categories + annotated bounding boxes per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Calibri"/>
              </a:defRPr>
            </a:pPr>
            <a:r>
              <a:t>The 9 Detection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Calibri"/>
              </a:defRPr>
            </a:pPr>
            <a:r>
              <a:t>Each class targets a specific tampering signal with dedicated mathematical detectors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Detection Classes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0080" cy="41148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Copy-Paste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ORB keypoints + spatial 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64008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17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Overwriting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Edge density + MAD-based Z-scores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1417320"/>
            <a:ext cx="640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417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Added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Connected components + shape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08960"/>
            <a:ext cx="64008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08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Erasure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Gap detection + ring-contrast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26280" y="3108960"/>
            <a:ext cx="640080" cy="4114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08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Document Merging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Noise/texture profile comparison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97180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60" y="310896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08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Watermark Removal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FFT frequency domain + Hough 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6344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" y="4800600"/>
            <a:ext cx="640080" cy="4114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800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Irregular Spacing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Statistical gap analysis + robust 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66344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26280" y="4800600"/>
            <a:ext cx="640080" cy="4114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800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Fully AI-Generated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349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Multi-feature scoring (6.7 max)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663440"/>
            <a:ext cx="35661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4800600"/>
            <a:ext cx="640080" cy="41148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800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Partial AI Edits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349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Per-token 7-signal outlier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Copy-Paste Detection Within Same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ORB (Oriented FAST and Rotated BRIEF) + Spatial Shift-Vector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Convert to grayscale, resize to max 1200px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Create text mask via adaptive thresholding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Detect 4000 ORB keypoints with 8 pyramid levels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Self-match all descriptors using BFMatcher (NORM_HAMMING, kNN k=2)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Apply Lowe's ratio test to filter weak matches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Cluster matched pairs by spatial shift vector (12px grid bins)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Require minimum cluster pairs (16 for npv_focus)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8.  OCR similarity check between source &amp; destination regions (threshold: 0.75)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9.  JPEG block energy bonus via DCT coefficient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Shift Vector:  s⃗ᵢ = p⃗_dst − p⃗_src</a:t>
            </a:r>
            <a:br/>
            <a:br/>
            <a:r>
              <a:t>Lowe's Ratio:  m.distance &lt; ratio × n.distance</a:t>
            </a:r>
            <a:br/>
            <a:br/>
            <a:r>
              <a:t>OCR Similarity:  difflib.SequenceMatcher ≥ 0.75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match_ratio: 0.7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min_cluster_pairs: 16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min_keypoints: 28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min_area: 500 px²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min_strength: 22 pairs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ocr_similarity: 0.75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Overwriting on Existing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Edge Density + Stroke Width Anomaly via Robust Z-Scores (MAD-Based)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Compute text mask, Canny edges (thresholds: 50/150), distance transform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Extract text line bounding boxes and connected components per line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For each component: compute edge density and stroke width variance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Calculate robust Z-score for each component vs. its line siblings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Flag components where edge Z &gt; threshold OR stroke Z &gt; threshold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Cross-validate with OCR token boxes for high edge density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Require minimum 5 components per line for statistical validity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Robust Z-Score (MAD-Based):</a:t>
            </a:r>
            <a:br/>
            <a:br/>
            <a:r>
              <a:t>  Z_MAD = 0.6745 × (xᵢ − x̃) / MAD</a:t>
            </a:r>
            <a:br/>
            <a:br/>
            <a:r>
              <a:t>where MAD = median(|values − median|)</a:t>
            </a:r>
            <a:br/>
            <a:br/>
            <a:r>
              <a:t>A component is flagged only when ≥ 2 signals</a:t>
            </a:r>
            <a:br/>
            <a:r>
              <a:t>exceed their Z-thresholds simultaneously.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edge_z: 3.6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stroke_z: 3.6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ocr_edge_density: 0.35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min_region_area: 260 px²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min_line_components: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Adding New Content (Stamps, Signatures, Foreign 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Connected Component Analysis + Morphological Shape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Extract text lines and connected components from text mask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For each component NOT inside an existing text line: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  → Check if STAMP: circularity &gt; 0.72 AND fill &gt; 0.38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  → Check if SIGNATURE: aspect_ratio &gt; 5.0 AND fill &lt; 0.25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  → Check if ADDED TEXT: fill &gt; 0.55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Also flag OCR-detected tokens outside text lines (area ≥ 150px²)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Minimum candidate area: 520 px²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Shape Metrics:</a:t>
            </a:r>
            <a:br/>
            <a:br/>
            <a:r>
              <a:t>  circularity = 4π × area / perimeter²</a:t>
            </a:r>
            <a:br/>
            <a:r>
              <a:t>  fill = contour_area / bounding_box_area</a:t>
            </a:r>
            <a:br/>
            <a:r>
              <a:t>  aspect = width / height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stamp_circularity: 0.72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stamp_fill: 0.38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signature_aspect: 5.0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fill_min: 0.55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min_candidate_area: 520 px²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Removing / Erasing Text or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Two-Pronged Candidate Detection + Ring-Contrast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Source 1 — Gap Candidates: Find suspiciously large gaps between OCR tokens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  Gap &gt; max(min_abs, median_gap × mult, median_token_width × mult)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Source 2 — Smooth Patches: Find unnaturally smooth areas where variance,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  gradient AND residual are all below their percentile thresholds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Score each candidate against its surrounding 'ring' (dilated area):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  +1.0 if cand_variance &lt; ring_variance × 0.55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  +1.0 if cand_gradient &lt; ring_gradient × 0.55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8.    +0.75 if cand_residual &lt; ring_residual × 0.6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9.    +0.5 foreground density check + DCT block energy bonus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Accumulative Score (max ~4.25):</a:t>
            </a:r>
            <a:br/>
            <a:br/>
            <a:r>
              <a:t>score += 1.0 (variance check)</a:t>
            </a:r>
            <a:br/>
            <a:r>
              <a:t>score += 1.0 (gradient check)</a:t>
            </a:r>
            <a:br/>
            <a:r>
              <a:t>score += 0.75 (residual check)</a:t>
            </a:r>
            <a:br/>
            <a:r>
              <a:t>score += 0.5 (foreground delta)</a:t>
            </a:r>
            <a:br/>
            <a:r>
              <a:t>score += bonus (erased text / JPEG DCT)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score_threshold: 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ring_var_ratio: 0.55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ring_grad_ratio: 0.55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ring_res_ratio: 0.6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erased_text_bonus: 0.3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Merging Content from Different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Multi-Signal Noise/Texture Profile Comparison Between Document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Segment page into horizontal 'bands' using row density thresholding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Require ≥ 2 bands (header region vs. body region)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For each band, compute 3 signal profiles: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  → Noise: [mean_residual, mean_variance, mean_gradient]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  → Text: [text_density, edge_density, median_token_h, median_token_w]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  → Block Energy: Mean DCT 8×8 coefficients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Compute profile differences between bands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8.  Score = noise_diff × 1.4 + text_diff × 1.0 + block_diff × 0.8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9.  Identify 'outsider' band by comparing distance to full-page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Profile Difference:</a:t>
            </a:r>
            <a:br/>
            <a:r>
              <a:t>  diff = mean(|a − b| / max(a, b))</a:t>
            </a:r>
            <a:br/>
            <a:br/>
            <a:r>
              <a:t>Weighted Score:</a:t>
            </a:r>
            <a:br/>
            <a:r>
              <a:t>  S = noise_diff × 1.4</a:t>
            </a:r>
            <a:br/>
            <a:r>
              <a:t>    + text_diff  × 1.0</a:t>
            </a:r>
            <a:br/>
            <a:r>
              <a:t>    + block_diff × 0.8</a:t>
            </a:r>
            <a:br/>
            <a:br/>
            <a:r>
              <a:t>Cue count: each diff &gt; 0.3 = 1 cue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score_threshold: 1.7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cue_threshold: 0.3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cue_count_min: 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dist_balance_max: 0.12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Watermark Removal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Frequency Domain Analysis + Hough Line Detection + Periodic Band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Compute local texture maps: residual, variance, gradient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Build candidate mask: pixels below variance, gradient AND residual percentiles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Morphological cleanup (open + close operations)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Detect dominant diagonal angle via Hough line transform on residual edges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Compute band periodicity: rotate mask → FFT of row-density → check peak/mean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Extract contours, filter by aspect ratio and diagonal angle alignment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Validate diagonal count, angle range, and periodicity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Band Periodicity:</a:t>
            </a:r>
            <a:br/>
            <a:r>
              <a:t>  periodicity = peak(FFT) / mean(FFT)</a:t>
            </a:r>
            <a:br/>
            <a:br/>
            <a:r>
              <a:t>Diagonal Angle Range:</a:t>
            </a:r>
            <a:br/>
            <a:r>
              <a:t>  24° ≤ angle ≤ 66°</a:t>
            </a:r>
            <a:br/>
            <a:br/>
            <a:r>
              <a:t>Diagonal Aspect Ratio:</a:t>
            </a:r>
            <a:br/>
            <a:r>
              <a:t>  aspect ≥ 2.4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periodicity_min: 3.0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diag_angle_min: 24°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diag_angle_max: 66°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diag_ratio_min: 0.35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diag_count_min: 8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aspect_min: 2.4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Irregular Spacing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Statistical Gap Analysis Using Robust Z-Scores on Inter-Token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Extract text lines and OCR token bounding boxes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For each line with ≥ 6 tokens: sort left-to-right, compute inter-token gaps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Calculate median gap, MAD, and gap coefficient of variation (CV)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Filter lines by minimum statistical quality thresholds (CV ≤ 0.6)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Flag LARGE gaps: gap &gt; max(min_abs, median × 2.8) AND Z &gt; 4.2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Flag TIGHT gaps: gap &lt; median × mult AND Z &lt; -3.6 (negative Z)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Record stretch_factor = gap / median_gap for each flagged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Large Gap Test:</a:t>
            </a:r>
            <a:br/>
            <a:r>
              <a:t>  gap &gt; max(min_abs, median × 2.8)</a:t>
            </a:r>
            <a:br/>
            <a:r>
              <a:t>  AND z &gt; 4.2</a:t>
            </a:r>
            <a:br/>
            <a:br/>
            <a:r>
              <a:t>Tight Gap Test:</a:t>
            </a:r>
            <a:br/>
            <a:r>
              <a:t>  gap &lt; median × mult</a:t>
            </a:r>
            <a:br/>
            <a:r>
              <a:t>  AND z &lt; -3.6</a:t>
            </a:r>
            <a:br/>
            <a:br/>
            <a:r>
              <a:t>Stretch Factor = gap / median_gap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large_gap_z: 4.2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tight_gap_z: -3.6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large_gap_median_mult: 2.8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min_tokens_per_line: 6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gap_cv_max: 0.6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Fully AI-Generated Document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Multi-Feature Accumulative Scoring: Background Uniformity + Stroke Consistency + FFT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Check background uniformity: variance ratio AND residual ratio below max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  → +1.0 if unnaturally uniform background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Check gradient uniformity → +0.6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Check stroke consistency: stroke_cv AND height_cv below max → +0.9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FFT spectral peak analysis → +0.9 if peak_ratio &gt; 15.0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High-frequency energy ratio → +0.7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Spectral flatness + background check → +0.6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8.  C9 coverage check: if &gt; 50% of page has AI-edit signals → +1.2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9.  C8 ONLY fires when no other category detected (or only C9)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Accumulative Score (max ~6.7):</a:t>
            </a:r>
            <a:br/>
            <a:br/>
            <a:r>
              <a:t>+1.0  uniform background</a:t>
            </a:r>
            <a:br/>
            <a:r>
              <a:t>+0.6  gradient uniformity</a:t>
            </a:r>
            <a:br/>
            <a:r>
              <a:t>+0.9  stroke consistency</a:t>
            </a:r>
            <a:br/>
            <a:r>
              <a:t>+0.9  FFT spectral peak</a:t>
            </a:r>
            <a:br/>
            <a:r>
              <a:t>+0.7  high-freq energy</a:t>
            </a:r>
            <a:br/>
            <a:r>
              <a:t>+0.6  spectral flatness</a:t>
            </a:r>
            <a:br/>
            <a:r>
              <a:t>+1.2  C9 coverage &gt; 50%</a:t>
            </a:r>
            <a:br/>
            <a:r>
              <a:t>+0.8  C9 coverage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score_threshold: 4.0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coverage_min: 0.5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spec_peak_min: 15.0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stroke_cv_max: 0.18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822960" cy="5486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Partial AI-Generated 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Algorithm: Per-Token Statistical Outlier Detection with 7 Signal Dimensions + Ring Ratio + FFT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4114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1.  For each text line, build per-token profiles across 7 signal dimensions: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2.    edge_density, gradient, residual, variance, stroke_width, FFT_ratio, FFT_peak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3.  Compute robust Z-scores for each token vs. its line siblings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4.  Accumulative scoring per token: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5.    +1.0 each for edge, gradient, residual, variance Z-outliers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6.    +0.7 for stroke width Z-outlier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7.    +0.6 for height Z-outlier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8.    +1.0 if ring_ratio_hits ≥ 2 (inner/outer texture ratio)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9.    +0.8/+0.6 for FFT peak/ratio outliers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120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73152" cy="3657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Core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onsolas"/>
              </a:defRPr>
            </a:pPr>
            <a:r>
              <a:t>Per-Token Score (max ~7.7):</a:t>
            </a:r>
            <a:br/>
            <a:br/>
            <a:r>
              <a:t>+1.0 × 4 (edge, grad, res, var)</a:t>
            </a:r>
            <a:br/>
            <a:r>
              <a:t>+0.7 (stroke width)</a:t>
            </a:r>
            <a:br/>
            <a:r>
              <a:t>+0.6 (height)</a:t>
            </a:r>
            <a:br/>
            <a:r>
              <a:t>+1.0 (ring ratio)</a:t>
            </a:r>
            <a:br/>
            <a:r>
              <a:t>+0.8 (FFT peak)</a:t>
            </a:r>
            <a:br/>
            <a:r>
              <a:t>+0.6 (FFT ratio)</a:t>
            </a:r>
            <a:br/>
            <a:br/>
            <a:r>
              <a:t>Ring Ratio = inner_mean / outer_ring_mean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91840"/>
            <a:ext cx="5212080" cy="2926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Production Thresholds (NPV Focus)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z_edge / z_grad / z_res / z_var: 3.0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z_stroke: 3.0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z_height: 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score_threshold: 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ring_ratio_low: 0.55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ring_ratio_high: 1.65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Calibri"/>
              </a:defRPr>
            </a:pPr>
            <a:r>
              <a:t>NPV Focus: Minimizing False Positives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Calibri"/>
              </a:defRPr>
            </a:pPr>
            <a:r>
              <a:t>The production preset designed for high-precision, legally defensible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NPV Focus: The Production Tuning Preset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1463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What is NPV Focus?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NPV = Negative Predictive Value. This preset maximizes precision by aggressively filtering out weak signals. It accepts that some real forgeries might be missed, but guarantees that when a document IS flagged, it's backed by strong mathematical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Post-Detection Filter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▸  Categories C2, C3, C4, C7, C8, C9 undergo additional filtering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▸  C1, C5, C6 always pass through (no additional filter)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▸  Category dropped if: total region area &lt; 2% of page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▸  Category dropped if: fewer than 4 detected regions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▸  If ALL categories filtered out → verdict becomes C10 (No Discrepancy)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10 Available Sensitivity Presets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56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hyper_loose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56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Most sensitive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67712"/>
            <a:ext cx="5029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95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super_loose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95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Desktop GUI 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06624"/>
            <a:ext cx="50292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34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ultra_loose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45536"/>
            <a:ext cx="5029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172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very_loose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584448"/>
            <a:ext cx="50292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loose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23360"/>
            <a:ext cx="5029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050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selective_loose_v2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462272"/>
            <a:ext cx="50292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89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current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4897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901184"/>
            <a:ext cx="5029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9286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340096"/>
            <a:ext cx="50292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367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onsolas"/>
              </a:defRPr>
            </a:pPr>
            <a:r>
              <a:t>strict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779008"/>
            <a:ext cx="5029200" cy="393192"/>
          </a:xfrm>
          <a:prstGeom prst="rect">
            <a:avLst/>
          </a:prstGeom>
          <a:solidFill>
            <a:srgbClr val="F0FDFA"/>
          </a:solidFill>
          <a:ln w="12700">
            <a:solidFill>
              <a:srgbClr val="14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onsolas"/>
              </a:defRPr>
            </a:pPr>
            <a:r>
              <a:t>npv_focus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★ PRODUCTION DEFAULT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Bounding Box Merging &amp; Findings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36576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Proximity-Based Iterative Clustering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1.  Start with each detected region as its own cluster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2.  Two boxes are 'close' if they overlap when each is expanded by 8px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3.  Proximity test: NOT (a.x2+gap &lt; b.x1 OR b.x2+gap &lt; a.x1 OR ...)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4.  Iteratively merge: pop a cluster, scan remaining for proximity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5.  If any cluster within 8px gap → merge boxes (union), sum counts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6.  Repeat until convergence (no more merges possible)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7.  Final padding: +10px on all sides for the preview rectangle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73152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Findings Summary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1.  Group detected regions by category per page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2.  Merge nearby boxes using 8px gap clustering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3.  Pad merged boxes by 10px, run OCR on padded region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4.  Filter: must have OCR text OR area ≥ 0.3% of page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5.  Sort by: has_text → text_score → area (descending)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6.  Cap at 5 findings per page (production limit)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7.  Generate human-readable summary text per finding</a:t>
            </a:r>
          </a:p>
          <a:p>
            <a:pPr>
              <a:spcBef>
                <a:spcPts val="5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8.  Color-coded bounding boxes per category in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Category Color Legend: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5715000"/>
            <a:ext cx="274320" cy="274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715000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5715000"/>
            <a:ext cx="2743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715000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5715000"/>
            <a:ext cx="274320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571500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5715000"/>
            <a:ext cx="274320" cy="2743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5715000"/>
            <a:ext cx="274320" cy="2743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5715000"/>
            <a:ext cx="274320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099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Security, Authentication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JWT Bearer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Two token types supported: Demo (HS256) and Keycloak (RS256)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Demo tokens: POST /api/token with name + email → signed JWT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Keycloak: RS256 validated against realm's published JWKS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Auth bypass available for development: FORGENSIC_AUTH_ENABLED=false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Zero-Persistence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Document data stored in temporary volume ($TEMP/forgensic_data)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Auto-purged after JOB_TTL expires (default: 1 hour)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API proactively cleans expired job directories on every health check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No permanent database, no cloud storage, no data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Upload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File type whitelist: PDF, JPG, PNG, BMP, TIFF, WebP only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25 MB max upload size enforced during streaming (not buffered)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Streamed to disk — memory footprint stays constant regardless of file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54864" cy="2286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Infrastructure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CORS configurable per deployment (default: allow all origins)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Redis keys namespaced: forgensic:job:{id} — isolated from other services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▸  Celery tasks use dedicated 'forgensic' queue — no cross-service interference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Offline Desktop Mode: Cross-Platform GUI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7955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Built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17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CustomTkinter — native look and feel on Windows, macOS, Linux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920240"/>
            <a:ext cx="79552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super_loose (most sensitive for thorough offline auditing)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468880"/>
            <a:ext cx="7955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146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Enabled by default for text-region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3017520"/>
            <a:ext cx="79552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3-step visual: Loading → Running Algorithm → Saving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566160"/>
            <a:ext cx="7955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Auto-saves to ~/Forgensic_Outputs/ with timestamps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4114800"/>
            <a:ext cx="79552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View 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160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Highlights specific finding regions on the document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4663440"/>
            <a:ext cx="7955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709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python forgensic_gui.py --input doc.pdf --output ./results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5212080"/>
            <a:ext cx="795527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257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100% offline — zero network requests, no data transmitted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760720"/>
            <a:ext cx="27432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5760720"/>
            <a:ext cx="7955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Platforms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806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Windows (.exe), macOS (.app), Ubuntu (.deb) — GitHub Actions CI/CD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Calibri"/>
              </a:defRPr>
            </a:pPr>
            <a:r>
              <a:t>Mathematical Foundation: Key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28600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280160"/>
            <a:ext cx="47548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280160"/>
            <a:ext cx="38404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Robust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Z = 0.6745 × (value − median) / 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Used by C2, C7, C9 for outlier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38528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938528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938528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299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Profile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diff = mean(|a − b| / max(a, b))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299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C5 band comparison, symmetric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96896"/>
            <a:ext cx="228600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2596896"/>
            <a:ext cx="47548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596896"/>
            <a:ext cx="38404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68833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Spectral Flatness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6883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flatness = exp(mean(log(P))) / mean(P)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6883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C6, C8 frequency domain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55264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3255264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255264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34670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Band Periodicity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3467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periodicity = peak(FFT) / mean(FFT)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3467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C6 watermark pattern detection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13632"/>
            <a:ext cx="228600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0" y="3913632"/>
            <a:ext cx="47548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913632"/>
            <a:ext cx="38404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050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DCT Block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005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energy = mean(|DCT coeffs| excl. DC)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0050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C1, C4 JPEG artifact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4572000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572000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Box Ring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ratio = (inner_mean + ε) / (ring_mean + 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6634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C9 inner/outer texture comparison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30368"/>
            <a:ext cx="228600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17520" y="5230368"/>
            <a:ext cx="47548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230368"/>
            <a:ext cx="384048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3218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Circularity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321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C = 4π × area / perimeter²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3218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C3 stamp detection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888736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17520" y="5888736"/>
            <a:ext cx="47548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888736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98017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Shift Vector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54680" y="59801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6C71"/>
                </a:solidFill>
                <a:latin typeface="Consolas"/>
              </a:defRPr>
            </a:pPr>
            <a:r>
              <a:t>s⃗ = p⃗_dst − p⃗_src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98017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C1 copy-paste spatial clustering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4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AF3F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9 Detection Classes  •  100% Explainability  •  0 GPUs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17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500+ Concurrent Requests  •  Zero Data Persistence  •  ~1-3s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Cross-Platform Offline GUI  •  JWT Authentication  •  Docker + Celery +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868C"/>
                </a:solidFill>
                <a:latin typeface="Calibri"/>
              </a:defRPr>
            </a:pPr>
            <a:r>
              <a:t>TANUH: AI Center of Excellence in Healthcare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